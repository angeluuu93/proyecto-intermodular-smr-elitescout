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F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10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87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07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220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309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66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2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70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767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016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432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733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2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28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560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87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262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911D1C-A162-436F-8653-95B477887FBF}" type="datetimeFigureOut">
              <a:rPr lang="es-ES" smtClean="0"/>
              <a:t>03/05/2026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7991E-C3B3-4C88-B9B5-032125CE12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3442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BF4EB-FD72-2457-FD77-C151CF352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s-ES" sz="3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ELITESCOUT SL: INFRAESTRUCTURA TECNOLÓGICA PARA EL ANÁLISIS DE ÉLITE.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7D0D52-9AAB-DA73-DF85-28FFF969A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latin typeface="Segoe UI" panose="020B0502040204020203" pitchFamily="34" charset="0"/>
                <a:cs typeface="Segoe UI" panose="020B0502040204020203" pitchFamily="34" charset="0"/>
              </a:rPr>
              <a:t>ÁNGEL LUIS MARTÍNEZ CALDERÓN.</a:t>
            </a:r>
          </a:p>
        </p:txBody>
      </p:sp>
    </p:spTree>
    <p:extLst>
      <p:ext uri="{BB962C8B-B14F-4D97-AF65-F5344CB8AC3E}">
        <p14:creationId xmlns:p14="http://schemas.microsoft.com/office/powerpoint/2010/main" val="28170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25A2646-DA81-8AE2-A729-0ED2081F4F6B}"/>
              </a:ext>
            </a:extLst>
          </p:cNvPr>
          <p:cNvSpPr txBox="1"/>
          <p:nvPr/>
        </p:nvSpPr>
        <p:spPr>
          <a:xfrm>
            <a:off x="916470" y="374598"/>
            <a:ext cx="11484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Actividad de la Empresa: </a:t>
            </a:r>
            <a:r>
              <a:rPr lang="es-ES" b="1" dirty="0" err="1"/>
              <a:t>EliteScout</a:t>
            </a:r>
            <a:r>
              <a:rPr lang="es-ES" b="1" dirty="0"/>
              <a:t> S.L</a:t>
            </a:r>
            <a:r>
              <a:rPr lang="es-ES" dirty="0"/>
              <a:t>.es una empresa especializada en el </a:t>
            </a:r>
            <a:r>
              <a:rPr lang="es-ES" dirty="0" err="1"/>
              <a:t>scouting</a:t>
            </a:r>
            <a:r>
              <a:rPr lang="es-ES" dirty="0"/>
              <a:t> de fútbol</a:t>
            </a:r>
          </a:p>
          <a:p>
            <a:r>
              <a:rPr lang="es-ES" dirty="0"/>
              <a:t>profesional, orientada a proporcionar a clubes y agentes deportivos información precisa,</a:t>
            </a:r>
          </a:p>
          <a:p>
            <a:r>
              <a:rPr lang="es-ES" dirty="0"/>
              <a:t>fiable y de alto valor sobre jugadores y equipos de todo el mundo.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811C3DF-0FDA-C6B8-D6AF-7E8291BC362D}"/>
              </a:ext>
            </a:extLst>
          </p:cNvPr>
          <p:cNvSpPr/>
          <p:nvPr/>
        </p:nvSpPr>
        <p:spPr>
          <a:xfrm>
            <a:off x="483635" y="2292726"/>
            <a:ext cx="4003963" cy="2496127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Análisis de Vídeo 4K: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Captura y procesamiento de partidos y entrenamientos en resolución Ultra HD para detectar patrones tácticos y técnicos con máxima precisión</a:t>
            </a:r>
          </a:p>
        </p:txBody>
      </p:sp>
      <p:pic>
        <p:nvPicPr>
          <p:cNvPr id="9" name="Gráfico 8" descr="Claqueta con relleno sólido">
            <a:extLst>
              <a:ext uri="{FF2B5EF4-FFF2-40B4-BE49-F238E27FC236}">
                <a16:creationId xmlns:a16="http://schemas.microsoft.com/office/drawing/2014/main" id="{A4FDEA12-EDEE-4AB6-14DB-15C97EF40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635" y="1687946"/>
            <a:ext cx="914400" cy="914400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CF3724B-1CD7-080A-E297-F47B33A24FBC}"/>
              </a:ext>
            </a:extLst>
          </p:cNvPr>
          <p:cNvSpPr/>
          <p:nvPr/>
        </p:nvSpPr>
        <p:spPr>
          <a:xfrm>
            <a:off x="4644221" y="2299771"/>
            <a:ext cx="3659909" cy="2561417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Gestión de Datos de Rendimiento:</a:t>
            </a:r>
            <a:r>
              <a:rPr lang="es-ES" dirty="0"/>
              <a:t> Recopilación,</a:t>
            </a:r>
          </a:p>
          <a:p>
            <a:pPr algn="ctr"/>
            <a:r>
              <a:rPr lang="es-ES" dirty="0"/>
              <a:t>almacenamiento y análisis de métricas de rendimiento deportivo: velocidad, acciones técnicas y estadísticas avanzadas.</a:t>
            </a:r>
          </a:p>
        </p:txBody>
      </p:sp>
      <p:pic>
        <p:nvPicPr>
          <p:cNvPr id="12" name="Gráfico 11" descr="Tendencia al alza con relleno sólido">
            <a:extLst>
              <a:ext uri="{FF2B5EF4-FFF2-40B4-BE49-F238E27FC236}">
                <a16:creationId xmlns:a16="http://schemas.microsoft.com/office/drawing/2014/main" id="{FA38A11E-4511-285C-A8AC-B60198B57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0744" y="1600318"/>
            <a:ext cx="914400" cy="914400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A264DC5-548F-2C10-15D6-81270821ED66}"/>
              </a:ext>
            </a:extLst>
          </p:cNvPr>
          <p:cNvSpPr/>
          <p:nvPr/>
        </p:nvSpPr>
        <p:spPr>
          <a:xfrm>
            <a:off x="8601363" y="2299771"/>
            <a:ext cx="3239655" cy="256141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solidFill>
                  <a:srgbClr val="39FF14"/>
                </a:solidFill>
              </a:rPr>
              <a:t>Scouting</a:t>
            </a:r>
            <a:r>
              <a:rPr lang="es-ES" b="1" dirty="0">
                <a:solidFill>
                  <a:srgbClr val="39FF14"/>
                </a:solidFill>
              </a:rPr>
              <a:t> Profesional:</a:t>
            </a:r>
            <a:r>
              <a:rPr lang="es-ES" dirty="0"/>
              <a:t> Identificación y seguimiento de talentos emergentes y consolidados mediante informes detallados y bases de datos actualizadas en tiempo real.</a:t>
            </a:r>
          </a:p>
        </p:txBody>
      </p:sp>
      <p:pic>
        <p:nvPicPr>
          <p:cNvPr id="15" name="Gráfico 14" descr="Lupa con relleno sólido">
            <a:extLst>
              <a:ext uri="{FF2B5EF4-FFF2-40B4-BE49-F238E27FC236}">
                <a16:creationId xmlns:a16="http://schemas.microsoft.com/office/drawing/2014/main" id="{61D5942D-19E6-1CC2-9F72-33043B683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4130" y="16003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7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A1CA98-2B05-D6A8-D497-158CA1E467D7}"/>
              </a:ext>
            </a:extLst>
          </p:cNvPr>
          <p:cNvSpPr txBox="1"/>
          <p:nvPr/>
        </p:nvSpPr>
        <p:spPr>
          <a:xfrm>
            <a:off x="831272" y="720436"/>
            <a:ext cx="9328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 </a:t>
            </a:r>
            <a:r>
              <a:rPr lang="es-ES" b="1" dirty="0" err="1"/>
              <a:t>EliteScout</a:t>
            </a:r>
            <a:r>
              <a:rPr lang="es-ES" b="1" dirty="0"/>
              <a:t> S.L. </a:t>
            </a:r>
            <a:r>
              <a:rPr lang="es-ES" dirty="0"/>
              <a:t>necesita una infraestructura tecnológica especializada que soporte las siguientes demandas críticas: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B40A328-B672-8D69-18EB-981A7DE8D36F}"/>
              </a:ext>
            </a:extLst>
          </p:cNvPr>
          <p:cNvSpPr/>
          <p:nvPr/>
        </p:nvSpPr>
        <p:spPr>
          <a:xfrm>
            <a:off x="489526" y="1505527"/>
            <a:ext cx="4248729" cy="197889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Alta Potencia de CPU y GPU: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El renderizado y la codificación de vídeo 4K exigen procesadores de última generación y tarjetas gráficas profesionales capaces de manejar flujos de datos masivos sin interrupciones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CC37D13-531C-9038-60E1-DF936FF897B3}"/>
              </a:ext>
            </a:extLst>
          </p:cNvPr>
          <p:cNvSpPr/>
          <p:nvPr/>
        </p:nvSpPr>
        <p:spPr>
          <a:xfrm>
            <a:off x="415637" y="3639127"/>
            <a:ext cx="4322618" cy="235527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Almacenamiento Masivo y Seguro (NAS): </a:t>
            </a:r>
            <a:r>
              <a:rPr lang="es-ES" dirty="0"/>
              <a:t>Los archivos de vídeo en 4K ocupan cientos de gigabytes por partido.</a:t>
            </a:r>
          </a:p>
          <a:p>
            <a:pPr algn="ctr"/>
            <a:r>
              <a:rPr lang="es-ES" dirty="0"/>
              <a:t>Se requiere un sistema NAS con redundancia RAID para garantizar </a:t>
            </a:r>
          </a:p>
          <a:p>
            <a:pPr algn="ctr"/>
            <a:r>
              <a:rPr lang="es-ES" dirty="0"/>
              <a:t>la integridad y disponibilidad de los datos en todo momento.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1ACDEEB-BE35-CDD6-73B5-ACDE9E5DEA24}"/>
              </a:ext>
            </a:extLst>
          </p:cNvPr>
          <p:cNvSpPr/>
          <p:nvPr/>
        </p:nvSpPr>
        <p:spPr>
          <a:xfrm>
            <a:off x="5019963" y="1838036"/>
            <a:ext cx="2969491" cy="3879271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39FF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Visualización en UHD:</a:t>
            </a:r>
            <a:r>
              <a:rPr lang="es-ES" dirty="0"/>
              <a:t> Los analistas necesitan monitores de alta resolución (4K UHD) para revisar el material con el máximo nivel de detalle, identificando movimientos y posicionamientos que serían invisibles en resoluciones inferiores</a:t>
            </a:r>
          </a:p>
        </p:txBody>
      </p:sp>
      <p:pic>
        <p:nvPicPr>
          <p:cNvPr id="11" name="Picture 130">
            <a:extLst>
              <a:ext uri="{FF2B5EF4-FFF2-40B4-BE49-F238E27FC236}">
                <a16:creationId xmlns:a16="http://schemas.microsoft.com/office/drawing/2014/main" id="{FF3D9793-FD5C-09AA-3D6E-CE8CA170FD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69559" y="1794377"/>
            <a:ext cx="3606804" cy="396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4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04E74E-17E5-2BFC-39D3-63A25956A65D}"/>
              </a:ext>
            </a:extLst>
          </p:cNvPr>
          <p:cNvSpPr txBox="1"/>
          <p:nvPr/>
        </p:nvSpPr>
        <p:spPr>
          <a:xfrm>
            <a:off x="618836" y="314036"/>
            <a:ext cx="92801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Inventario de Hardware: </a:t>
            </a:r>
            <a:r>
              <a:rPr lang="es-ES" dirty="0"/>
              <a:t>El parque informático de </a:t>
            </a:r>
            <a:r>
              <a:rPr lang="es-ES" dirty="0" err="1"/>
              <a:t>EliteScout</a:t>
            </a:r>
            <a:r>
              <a:rPr lang="es-ES" dirty="0"/>
              <a:t> S.L. ha sido diseñado</a:t>
            </a:r>
          </a:p>
          <a:p>
            <a:r>
              <a:rPr lang="es-ES" dirty="0"/>
              <a:t> para cubrir cada rol dentro de</a:t>
            </a:r>
          </a:p>
          <a:p>
            <a:r>
              <a:rPr lang="es-ES" dirty="0"/>
              <a:t> la empresa con el equipo más adecuado a sus funciones específicas. </a:t>
            </a:r>
          </a:p>
          <a:p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FE8CC01-8D3C-DAE5-95AC-D5FFF527B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134476"/>
              </p:ext>
            </p:extLst>
          </p:nvPr>
        </p:nvGraphicFramePr>
        <p:xfrm>
          <a:off x="1136071" y="1423324"/>
          <a:ext cx="7924800" cy="4921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392947546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428745991"/>
                    </a:ext>
                  </a:extLst>
                </a:gridCol>
                <a:gridCol w="2309093">
                  <a:extLst>
                    <a:ext uri="{9D8B030D-6E8A-4147-A177-3AD203B41FA5}">
                      <a16:colId xmlns:a16="http://schemas.microsoft.com/office/drawing/2014/main" val="1063356142"/>
                    </a:ext>
                  </a:extLst>
                </a:gridCol>
                <a:gridCol w="1653307">
                  <a:extLst>
                    <a:ext uri="{9D8B030D-6E8A-4147-A177-3AD203B41FA5}">
                      <a16:colId xmlns:a16="http://schemas.microsoft.com/office/drawing/2014/main" val="1170806355"/>
                    </a:ext>
                  </a:extLst>
                </a:gridCol>
              </a:tblGrid>
              <a:tr h="827974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EQUIPO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CANTIDAD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ESPECIFICACIONES</a:t>
                      </a:r>
                    </a:p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CLAVES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USO PRINCIPAL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944117"/>
                  </a:ext>
                </a:extLst>
              </a:tr>
              <a:tr h="1076366">
                <a:tc>
                  <a:txBody>
                    <a:bodyPr/>
                    <a:lstStyle/>
                    <a:p>
                      <a:r>
                        <a:rPr lang="es-ES" dirty="0"/>
                        <a:t>Estación de Analista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 UNIDADES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Intel Core i7 / 32 GB RAM / GPU dedicada / Monitor 4K. </a:t>
                      </a:r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Análisis de vídeo y datos.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178451474"/>
                  </a:ext>
                </a:extLst>
              </a:tr>
              <a:tr h="827974">
                <a:tc>
                  <a:txBody>
                    <a:bodyPr/>
                    <a:lstStyle/>
                    <a:p>
                      <a:r>
                        <a:rPr lang="es-ES" dirty="0"/>
                        <a:t>Portátil de Dirección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UNIDAD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nn-NO" dirty="0"/>
                        <a:t>Intel Core i5 / 16 GB RAM / SSD 512 GB. </a:t>
                      </a:r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Gestión y presentaciones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29048588"/>
                  </a:ext>
                </a:extLst>
              </a:tr>
              <a:tr h="827974">
                <a:tc>
                  <a:txBody>
                    <a:bodyPr/>
                    <a:lstStyle/>
                    <a:p>
                      <a:r>
                        <a:rPr lang="es-ES" dirty="0"/>
                        <a:t>PC de Administración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UNIDAD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nn-NO" dirty="0"/>
                        <a:t>Intel Core i5 / 16 GB RAM / SSD 256 GB</a:t>
                      </a:r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Ofimática y facturación.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481476422"/>
                  </a:ext>
                </a:extLst>
              </a:tr>
              <a:tr h="1076366">
                <a:tc>
                  <a:txBody>
                    <a:bodyPr/>
                    <a:lstStyle/>
                    <a:p>
                      <a:r>
                        <a:rPr lang="es-ES" dirty="0"/>
                        <a:t>Sistema NAS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UNIDAD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RAID 1 / 40 TB </a:t>
                      </a:r>
                      <a:r>
                        <a:rPr lang="en-US" dirty="0" err="1"/>
                        <a:t>brutos</a:t>
                      </a:r>
                      <a:r>
                        <a:rPr lang="en-US" dirty="0"/>
                        <a:t> / Gigabit Ethernet.</a:t>
                      </a:r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Almacenamiento centralizado.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29986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63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0CB2B7B-7D8B-6157-518C-EE9E37F70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72" y="478226"/>
            <a:ext cx="95873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b="1" i="0" u="none" strike="noStrike" cap="none" normalizeH="0" baseline="0" dirty="0">
                <a:ln>
                  <a:noFill/>
                </a:ln>
                <a:solidFill>
                  <a:srgbClr val="39FF14"/>
                </a:solidFill>
                <a:effectLst/>
                <a:latin typeface="+mj-lt"/>
              </a:rPr>
              <a:t>Software Especializado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 selección de software de </a:t>
            </a:r>
            <a:r>
              <a:rPr kumimoji="0" lang="es-ES" altLang="es-E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EliteScout</a:t>
            </a:r>
            <a:r>
              <a:rPr kumimoji="0" lang="es-ES" altLang="es-E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S.L. combina herramientas de análisis deportivo de nivel profesional con soluciones de productividad y gestión empresarial.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6B3CDC-ABD1-2BF9-4073-D722FBAF5A5D}"/>
              </a:ext>
            </a:extLst>
          </p:cNvPr>
          <p:cNvSpPr txBox="1"/>
          <p:nvPr/>
        </p:nvSpPr>
        <p:spPr>
          <a:xfrm>
            <a:off x="554182" y="4193309"/>
            <a:ext cx="29002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39FF14"/>
                </a:solidFill>
              </a:rPr>
              <a:t>Nacsport</a:t>
            </a:r>
            <a:r>
              <a:rPr lang="es-ES" b="1" dirty="0">
                <a:solidFill>
                  <a:srgbClr val="39FF14"/>
                </a:solidFill>
              </a:rPr>
              <a:t>:</a:t>
            </a:r>
            <a:r>
              <a:rPr lang="es-ES" dirty="0"/>
              <a:t> Software líder en análisis de vídeo deportivo. Permite crear categorías de acción, etiquetar jugadas y generar informes visuales.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B93987-D463-9BB1-1047-6EBAFAC2A76E}"/>
              </a:ext>
            </a:extLst>
          </p:cNvPr>
          <p:cNvSpPr txBox="1"/>
          <p:nvPr/>
        </p:nvSpPr>
        <p:spPr>
          <a:xfrm>
            <a:off x="3569856" y="4193308"/>
            <a:ext cx="29002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39FF14"/>
                </a:solidFill>
              </a:rPr>
              <a:t>Longomatch</a:t>
            </a:r>
            <a:r>
              <a:rPr lang="es-ES" b="1" dirty="0">
                <a:solidFill>
                  <a:srgbClr val="39FF14"/>
                </a:solidFill>
              </a:rPr>
              <a:t>:</a:t>
            </a:r>
            <a:r>
              <a:rPr lang="es-ES" dirty="0"/>
              <a:t> Plataforma de análisis de rendimiento deportivo de código abierto. Ideal para el etiquetado de eventos en tiempo real.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37E80A-BFD7-3D2D-DD3A-F1C8E8ED41F1}"/>
              </a:ext>
            </a:extLst>
          </p:cNvPr>
          <p:cNvSpPr txBox="1"/>
          <p:nvPr/>
        </p:nvSpPr>
        <p:spPr>
          <a:xfrm>
            <a:off x="6470075" y="4200482"/>
            <a:ext cx="29002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39FF14"/>
                </a:solidFill>
              </a:rPr>
              <a:t>Suite Ofimática: </a:t>
            </a:r>
            <a:r>
              <a:rPr lang="es-ES" dirty="0"/>
              <a:t>Microsoft 365 para la gestión documental, elaboración de informes de </a:t>
            </a:r>
            <a:r>
              <a:rPr lang="es-ES" dirty="0" err="1"/>
              <a:t>scouting</a:t>
            </a:r>
            <a:r>
              <a:rPr lang="es-ES" dirty="0"/>
              <a:t>, comunicaciones y presentaciones.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EA4950-FB4B-B743-2AC9-D0D0CD1D4170}"/>
              </a:ext>
            </a:extLst>
          </p:cNvPr>
          <p:cNvSpPr txBox="1"/>
          <p:nvPr/>
        </p:nvSpPr>
        <p:spPr>
          <a:xfrm>
            <a:off x="9019307" y="4200482"/>
            <a:ext cx="27986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39FF14"/>
                </a:solidFill>
              </a:rPr>
              <a:t>Gestión y Base de Datos: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Herramientas de gestión de jugadores y contratos, con bases de datos relacionales para el seguimiento histórico</a:t>
            </a:r>
          </a:p>
        </p:txBody>
      </p:sp>
      <p:pic>
        <p:nvPicPr>
          <p:cNvPr id="2055" name="Picture 7" descr="Nacsport | Software para analizar tus videos deportivos">
            <a:extLst>
              <a:ext uri="{FF2B5EF4-FFF2-40B4-BE49-F238E27FC236}">
                <a16:creationId xmlns:a16="http://schemas.microsoft.com/office/drawing/2014/main" id="{2E2E9130-7259-A464-4D61-9BB90853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2" y="2525669"/>
            <a:ext cx="2595851" cy="167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Longomatch - Longomatch">
            <a:extLst>
              <a:ext uri="{FF2B5EF4-FFF2-40B4-BE49-F238E27FC236}">
                <a16:creationId xmlns:a16="http://schemas.microsoft.com/office/drawing/2014/main" id="{777E0027-D8AB-9D1D-DFD1-3999AD153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845" y="2343826"/>
            <a:ext cx="2500745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58C670EC-BEED-F916-471E-B5BB286F7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620" y="2723154"/>
            <a:ext cx="2500745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Qué es la gestión de bases de datos? | Beneficios de un DBMS | Nutanix">
            <a:extLst>
              <a:ext uri="{FF2B5EF4-FFF2-40B4-BE49-F238E27FC236}">
                <a16:creationId xmlns:a16="http://schemas.microsoft.com/office/drawing/2014/main" id="{B491099A-C6D9-BCE7-348B-F5958F491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677" y="2599831"/>
            <a:ext cx="2047008" cy="165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43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5CD6C84-557C-CA88-BD6D-A1B67C380176}"/>
              </a:ext>
            </a:extLst>
          </p:cNvPr>
          <p:cNvSpPr txBox="1"/>
          <p:nvPr/>
        </p:nvSpPr>
        <p:spPr>
          <a:xfrm>
            <a:off x="535708" y="837301"/>
            <a:ext cx="5865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39FF14"/>
                </a:solidFill>
              </a:rPr>
              <a:t>Red e Infraestructura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6D60CD-461A-1A05-769E-474745EAE3A7}"/>
              </a:ext>
            </a:extLst>
          </p:cNvPr>
          <p:cNvSpPr txBox="1"/>
          <p:nvPr/>
        </p:nvSpPr>
        <p:spPr>
          <a:xfrm>
            <a:off x="665017" y="1773382"/>
            <a:ext cx="701963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39FF14"/>
                </a:solidFill>
              </a:rPr>
              <a:t>Conexión por Cable (Ethernet): </a:t>
            </a:r>
            <a:r>
              <a:rPr lang="es-ES" dirty="0"/>
              <a:t>Las tres estaciones de analista y el servidor NAS están conectados mediante Ethernet Gigabit (Cat6), garantizando la máxima velocidad para archivos 4K.  </a:t>
            </a:r>
          </a:p>
          <a:p>
            <a:endParaRPr lang="es-ES" dirty="0">
              <a:solidFill>
                <a:srgbClr val="39FF14"/>
              </a:solidFill>
            </a:endParaRPr>
          </a:p>
          <a:p>
            <a:r>
              <a:rPr lang="es-ES" b="1" dirty="0">
                <a:solidFill>
                  <a:srgbClr val="39FF14"/>
                </a:solidFill>
              </a:rPr>
              <a:t>Red </a:t>
            </a:r>
            <a:r>
              <a:rPr lang="es-ES" b="1" dirty="0" err="1">
                <a:solidFill>
                  <a:srgbClr val="39FF14"/>
                </a:solidFill>
              </a:rPr>
              <a:t>Wi</a:t>
            </a:r>
            <a:r>
              <a:rPr lang="es-ES" b="1" dirty="0">
                <a:solidFill>
                  <a:srgbClr val="39FF14"/>
                </a:solidFill>
              </a:rPr>
              <a:t>-Fi para Invitados y Dirección: </a:t>
            </a:r>
            <a:r>
              <a:rPr lang="es-ES" dirty="0"/>
              <a:t>Se dispone de una red inalámbrica </a:t>
            </a:r>
            <a:r>
              <a:rPr lang="es-ES" dirty="0" err="1"/>
              <a:t>Wi</a:t>
            </a:r>
            <a:r>
              <a:rPr lang="es-ES" dirty="0"/>
              <a:t>-Fi 6 (802.11ax) segmentada mediante VLAN, con cifrado WPA3.  </a:t>
            </a:r>
          </a:p>
          <a:p>
            <a:endParaRPr lang="es-ES" dirty="0"/>
          </a:p>
          <a:p>
            <a:r>
              <a:rPr lang="es-ES" b="1" dirty="0">
                <a:solidFill>
                  <a:srgbClr val="39FF14"/>
                </a:solidFill>
              </a:rPr>
              <a:t>Seguridad en el NAS: </a:t>
            </a:r>
            <a:r>
              <a:rPr lang="es-ES" dirty="0"/>
              <a:t>Control de acceso por usuario, cifrado de volúmenes y políticas de </a:t>
            </a:r>
            <a:r>
              <a:rPr lang="es-ES" dirty="0" err="1"/>
              <a:t>backup</a:t>
            </a:r>
            <a:r>
              <a:rPr lang="es-ES" dirty="0"/>
              <a:t> automatizadas.  </a:t>
            </a:r>
          </a:p>
          <a:p>
            <a:endParaRPr lang="es-ES" dirty="0"/>
          </a:p>
          <a:p>
            <a:r>
              <a:rPr lang="es-ES" b="1" dirty="0">
                <a:solidFill>
                  <a:srgbClr val="39FF14"/>
                </a:solidFill>
              </a:rPr>
              <a:t>Componentes del esquema: </a:t>
            </a:r>
            <a:r>
              <a:rPr lang="es-ES" dirty="0"/>
              <a:t>Puesto Analista (E), Equipo Invitado (W), Hub de Red (</a:t>
            </a:r>
            <a:r>
              <a:rPr lang="es-ES" dirty="0" err="1"/>
              <a:t>VLANs</a:t>
            </a:r>
            <a:r>
              <a:rPr lang="es-ES" dirty="0"/>
              <a:t>), Servidor NAS (RAID 5), Portátil Gestión (W).</a:t>
            </a:r>
          </a:p>
        </p:txBody>
      </p:sp>
      <p:sp>
        <p:nvSpPr>
          <p:cNvPr id="11" name="AutoShape 5" descr=", generada por IA">
            <a:extLst>
              <a:ext uri="{FF2B5EF4-FFF2-40B4-BE49-F238E27FC236}">
                <a16:creationId xmlns:a16="http://schemas.microsoft.com/office/drawing/2014/main" id="{284AA057-BA79-0F18-DB48-F0989D7EB1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7AF2C5C-0730-278E-B399-38DA0459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744" y="1605717"/>
            <a:ext cx="4174621" cy="441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4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032C16F-C353-29A2-B016-874315251578}"/>
              </a:ext>
            </a:extLst>
          </p:cNvPr>
          <p:cNvSpPr txBox="1"/>
          <p:nvPr/>
        </p:nvSpPr>
        <p:spPr>
          <a:xfrm>
            <a:off x="397165" y="526472"/>
            <a:ext cx="9531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39FF14"/>
                </a:solidFill>
              </a:rPr>
              <a:t>Mantenimiento y Calidad</a:t>
            </a:r>
          </a:p>
          <a:p>
            <a:r>
              <a:rPr lang="es-ES" dirty="0"/>
              <a:t>Objetivo: Garantizar que la empresa nunca se detenga por un fallo técnico evitable.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86C1BE1-62F9-B8F8-7760-95DB03643B7E}"/>
              </a:ext>
            </a:extLst>
          </p:cNvPr>
          <p:cNvCxnSpPr>
            <a:cxnSpLocks/>
          </p:cNvCxnSpPr>
          <p:nvPr/>
        </p:nvCxnSpPr>
        <p:spPr>
          <a:xfrm>
            <a:off x="4904509" y="2004291"/>
            <a:ext cx="0" cy="405476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38B8B50-09D0-5C05-0146-F7EFB0A168F8}"/>
              </a:ext>
            </a:extLst>
          </p:cNvPr>
          <p:cNvSpPr/>
          <p:nvPr/>
        </p:nvSpPr>
        <p:spPr>
          <a:xfrm>
            <a:off x="4590473" y="1745673"/>
            <a:ext cx="480289" cy="54956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69FE943-7E1D-0504-9F89-38C7D8EF7916}"/>
              </a:ext>
            </a:extLst>
          </p:cNvPr>
          <p:cNvSpPr/>
          <p:nvPr/>
        </p:nvSpPr>
        <p:spPr>
          <a:xfrm>
            <a:off x="4904509" y="2872509"/>
            <a:ext cx="563420" cy="54956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BBD72C3-04FE-8C27-2C21-EE640DE0C054}"/>
              </a:ext>
            </a:extLst>
          </p:cNvPr>
          <p:cNvSpPr/>
          <p:nvPr/>
        </p:nvSpPr>
        <p:spPr>
          <a:xfrm>
            <a:off x="4271818" y="4041362"/>
            <a:ext cx="637310" cy="47313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7EBF5FD-D853-8694-589D-8046C976F51B}"/>
              </a:ext>
            </a:extLst>
          </p:cNvPr>
          <p:cNvSpPr/>
          <p:nvPr/>
        </p:nvSpPr>
        <p:spPr>
          <a:xfrm>
            <a:off x="4879110" y="5013263"/>
            <a:ext cx="614218" cy="47313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9EF2F1E-4183-22EF-34F6-0C4506E21F8B}"/>
              </a:ext>
            </a:extLst>
          </p:cNvPr>
          <p:cNvSpPr/>
          <p:nvPr/>
        </p:nvSpPr>
        <p:spPr>
          <a:xfrm>
            <a:off x="569193" y="1951186"/>
            <a:ext cx="3078018" cy="147781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Semanal: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Verificación de </a:t>
            </a:r>
            <a:r>
              <a:rPr lang="es-ES" dirty="0" err="1"/>
              <a:t>backups</a:t>
            </a:r>
            <a:r>
              <a:rPr lang="es-ES" dirty="0"/>
              <a:t> en el NAS y alertas del sistema de monitorización. </a:t>
            </a:r>
          </a:p>
          <a:p>
            <a:pPr algn="ctr"/>
            <a:endParaRPr lang="es-ES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59E1C5A-E564-3CB6-F233-CE50869969CE}"/>
              </a:ext>
            </a:extLst>
          </p:cNvPr>
          <p:cNvSpPr/>
          <p:nvPr/>
        </p:nvSpPr>
        <p:spPr>
          <a:xfrm>
            <a:off x="6022109" y="2606148"/>
            <a:ext cx="4073233" cy="128154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Mensual: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Limpieza física de hardware (filtros, ventiladores), actualización de drivers y revisión de incidencias.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EDE5207-2D94-B8D1-7E22-3E059B100CA2}"/>
              </a:ext>
            </a:extLst>
          </p:cNvPr>
          <p:cNvSpPr/>
          <p:nvPr/>
        </p:nvSpPr>
        <p:spPr>
          <a:xfrm>
            <a:off x="489527" y="4514498"/>
            <a:ext cx="2817091" cy="16369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Trimestral: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Auditoría de seguridad de red, revisión de permisos en el NAS y prueba de restauración de </a:t>
            </a:r>
            <a:r>
              <a:rPr lang="es-ES" dirty="0" err="1"/>
              <a:t>backups</a:t>
            </a:r>
            <a:endParaRPr lang="es-ES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8965850-78A8-C4C4-582C-8AC7A1E136CF}"/>
              </a:ext>
            </a:extLst>
          </p:cNvPr>
          <p:cNvSpPr/>
          <p:nvPr/>
        </p:nvSpPr>
        <p:spPr>
          <a:xfrm>
            <a:off x="6881090" y="4756727"/>
            <a:ext cx="3509817" cy="147781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rgbClr val="39FF14"/>
                </a:solidFill>
              </a:rPr>
              <a:t>Anual:</a:t>
            </a:r>
            <a:r>
              <a:rPr lang="es-ES" dirty="0">
                <a:solidFill>
                  <a:srgbClr val="39FF14"/>
                </a:solidFill>
              </a:rPr>
              <a:t> </a:t>
            </a:r>
            <a:r>
              <a:rPr lang="es-ES" dirty="0"/>
              <a:t>Evaluación del parque informático, planificación de renovaciones y revisión del plan de continuidad.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152E9D0-5947-47A5-8336-957C157980F7}"/>
              </a:ext>
            </a:extLst>
          </p:cNvPr>
          <p:cNvCxnSpPr>
            <a:stCxn id="8" idx="1"/>
            <a:endCxn id="15" idx="3"/>
          </p:cNvCxnSpPr>
          <p:nvPr/>
        </p:nvCxnSpPr>
        <p:spPr>
          <a:xfrm flipH="1">
            <a:off x="3647211" y="2020455"/>
            <a:ext cx="943262" cy="66963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7FFE94D-6A96-6C3A-EB92-C09529C29A09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5467929" y="3147291"/>
            <a:ext cx="554180" cy="996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843444E-3726-D280-74E7-7151E964A1A5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3306618" y="4304145"/>
            <a:ext cx="943262" cy="102881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8E929F0-B8F0-462E-0DC4-0472FFAC22F7}"/>
              </a:ext>
            </a:extLst>
          </p:cNvPr>
          <p:cNvCxnSpPr>
            <a:stCxn id="14" idx="3"/>
          </p:cNvCxnSpPr>
          <p:nvPr/>
        </p:nvCxnSpPr>
        <p:spPr>
          <a:xfrm>
            <a:off x="5493328" y="5249832"/>
            <a:ext cx="1387762" cy="1489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25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49CA9BC-F8F4-C670-FB0E-3DA8CC3803E9}"/>
              </a:ext>
            </a:extLst>
          </p:cNvPr>
          <p:cNvSpPr txBox="1"/>
          <p:nvPr/>
        </p:nvSpPr>
        <p:spPr>
          <a:xfrm>
            <a:off x="1023522" y="886690"/>
            <a:ext cx="519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39FF14"/>
                </a:solidFill>
              </a:rPr>
              <a:t>PRESUPUESTO DEL PROYECTO.</a:t>
            </a:r>
            <a:endParaRPr lang="es-ES" b="1" dirty="0">
              <a:solidFill>
                <a:srgbClr val="39FF14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2C7E0D5-D631-94A6-1591-26421ED8C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363106"/>
              </p:ext>
            </p:extLst>
          </p:nvPr>
        </p:nvGraphicFramePr>
        <p:xfrm>
          <a:off x="767400" y="1348352"/>
          <a:ext cx="9156468" cy="5154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4343">
                  <a:extLst>
                    <a:ext uri="{9D8B030D-6E8A-4147-A177-3AD203B41FA5}">
                      <a16:colId xmlns:a16="http://schemas.microsoft.com/office/drawing/2014/main" val="2375397974"/>
                    </a:ext>
                  </a:extLst>
                </a:gridCol>
                <a:gridCol w="2459882">
                  <a:extLst>
                    <a:ext uri="{9D8B030D-6E8A-4147-A177-3AD203B41FA5}">
                      <a16:colId xmlns:a16="http://schemas.microsoft.com/office/drawing/2014/main" val="834538994"/>
                    </a:ext>
                  </a:extLst>
                </a:gridCol>
                <a:gridCol w="2432243">
                  <a:extLst>
                    <a:ext uri="{9D8B030D-6E8A-4147-A177-3AD203B41FA5}">
                      <a16:colId xmlns:a16="http://schemas.microsoft.com/office/drawing/2014/main" val="1391990487"/>
                    </a:ext>
                  </a:extLst>
                </a:gridCol>
              </a:tblGrid>
              <a:tr h="554962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CONCEPTO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UNIDADES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rgbClr val="39FF14"/>
                          </a:solidFill>
                        </a:rPr>
                        <a:t>COSTE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548453"/>
                  </a:ext>
                </a:extLst>
              </a:tr>
              <a:tr h="620911">
                <a:tc>
                  <a:txBody>
                    <a:bodyPr/>
                    <a:lstStyle/>
                    <a:p>
                      <a:r>
                        <a:rPr lang="es-ES" dirty="0"/>
                        <a:t>Estaciones de analista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5550€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8292090"/>
                  </a:ext>
                </a:extLst>
              </a:tr>
              <a:tr h="554962">
                <a:tc>
                  <a:txBody>
                    <a:bodyPr/>
                    <a:lstStyle/>
                    <a:p>
                      <a:r>
                        <a:rPr lang="es-ES" dirty="0"/>
                        <a:t>Portátil de dirección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1100€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908828206"/>
                  </a:ext>
                </a:extLst>
              </a:tr>
              <a:tr h="554962">
                <a:tc>
                  <a:txBody>
                    <a:bodyPr/>
                    <a:lstStyle/>
                    <a:p>
                      <a:r>
                        <a:rPr lang="es-ES" dirty="0"/>
                        <a:t>PC de administración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750€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43318320"/>
                  </a:ext>
                </a:extLst>
              </a:tr>
              <a:tr h="554962">
                <a:tc>
                  <a:txBody>
                    <a:bodyPr/>
                    <a:lstStyle/>
                    <a:p>
                      <a:r>
                        <a:rPr lang="es-ES" dirty="0"/>
                        <a:t>Sistema NAS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1200€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34037476"/>
                  </a:ext>
                </a:extLst>
              </a:tr>
              <a:tr h="554962">
                <a:tc>
                  <a:txBody>
                    <a:bodyPr/>
                    <a:lstStyle/>
                    <a:p>
                      <a:r>
                        <a:rPr lang="es-ES" dirty="0"/>
                        <a:t>Infraestructura de 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650€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786856963"/>
                  </a:ext>
                </a:extLst>
              </a:tr>
              <a:tr h="554962">
                <a:tc>
                  <a:txBody>
                    <a:bodyPr/>
                    <a:lstStyle/>
                    <a:p>
                      <a:r>
                        <a:rPr lang="es-ES" dirty="0"/>
                        <a:t>Licencias de software especializado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500€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730785301"/>
                  </a:ext>
                </a:extLst>
              </a:tr>
              <a:tr h="564192">
                <a:tc>
                  <a:txBody>
                    <a:bodyPr/>
                    <a:lstStyle/>
                    <a:p>
                      <a:r>
                        <a:rPr lang="es-ES" b="0" dirty="0"/>
                        <a:t>Discos de seguridad NAS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            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          </a:t>
                      </a:r>
                      <a:r>
                        <a:rPr lang="es-ES" b="0" dirty="0"/>
                        <a:t>490</a:t>
                      </a:r>
                      <a:r>
                        <a:rPr lang="es-ES" dirty="0"/>
                        <a:t>€</a:t>
                      </a:r>
                      <a:r>
                        <a:rPr lang="es-ES" b="1" dirty="0"/>
                        <a:t>  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92565405"/>
                  </a:ext>
                </a:extLst>
              </a:tr>
              <a:tr h="5641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TOTAL ESTIMADO</a:t>
                      </a:r>
                    </a:p>
                    <a:p>
                      <a:endParaRPr lang="es-ES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/>
                        <a:t>      10390</a:t>
                      </a:r>
                      <a:r>
                        <a:rPr lang="es-ES" dirty="0"/>
                        <a:t>€</a:t>
                      </a:r>
                      <a:endParaRPr lang="es-E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8617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58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796859-5E6A-DCCB-5DD1-A4077533CCB6}"/>
              </a:ext>
            </a:extLst>
          </p:cNvPr>
          <p:cNvSpPr txBox="1"/>
          <p:nvPr/>
        </p:nvSpPr>
        <p:spPr>
          <a:xfrm>
            <a:off x="720436" y="1305341"/>
            <a:ext cx="80448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infraestructura diseñada para </a:t>
            </a:r>
            <a:r>
              <a:rPr lang="es-ES" dirty="0" err="1"/>
              <a:t>EliteScout</a:t>
            </a:r>
            <a:r>
              <a:rPr lang="es-ES" dirty="0"/>
              <a:t> S.L representa una inversión </a:t>
            </a:r>
            <a:r>
              <a:rPr lang="es-ES" dirty="0" err="1"/>
              <a:t>estrategica</a:t>
            </a:r>
            <a:r>
              <a:rPr lang="es-ES" dirty="0"/>
              <a:t> de vanguardia del </a:t>
            </a:r>
            <a:r>
              <a:rPr lang="es-ES" dirty="0" err="1"/>
              <a:t>scouting</a:t>
            </a:r>
            <a:r>
              <a:rPr lang="es-ES" dirty="0"/>
              <a:t> de fútbol profesional en España. </a:t>
            </a:r>
          </a:p>
          <a:p>
            <a:r>
              <a:rPr lang="es-ES" dirty="0"/>
              <a:t>Con una inversión total de 8700€, la empresa dispondrá de un entorno tecnológico de alto </a:t>
            </a:r>
            <a:r>
              <a:rPr lang="es-ES" dirty="0" err="1"/>
              <a:t>rendimiento,seguro</a:t>
            </a:r>
            <a:r>
              <a:rPr lang="es-ES" dirty="0"/>
              <a:t> y escalable, capaz de soportar el crecimiento futuro del negocio.</a:t>
            </a:r>
          </a:p>
          <a:p>
            <a:endParaRPr lang="es-ES" dirty="0"/>
          </a:p>
          <a:p>
            <a:r>
              <a:rPr lang="es-ES" dirty="0"/>
              <a:t>∙Infraestructura robustos y redundante </a:t>
            </a:r>
          </a:p>
          <a:p>
            <a:endParaRPr lang="es-ES" dirty="0"/>
          </a:p>
          <a:p>
            <a:r>
              <a:rPr lang="es-ES" dirty="0"/>
              <a:t>∙ Software de análisis de nivel profesional</a:t>
            </a:r>
          </a:p>
          <a:p>
            <a:endParaRPr lang="es-ES" dirty="0"/>
          </a:p>
          <a:p>
            <a:r>
              <a:rPr lang="es-ES" dirty="0"/>
              <a:t>∙ Red segura y segmentada</a:t>
            </a:r>
          </a:p>
          <a:p>
            <a:endParaRPr lang="es-ES" dirty="0"/>
          </a:p>
          <a:p>
            <a:r>
              <a:rPr lang="es-ES" dirty="0"/>
              <a:t>∙ Plan de mantenimiento preventivo</a:t>
            </a:r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8929499-708C-E570-155E-037E9C0C8B5A}"/>
              </a:ext>
            </a:extLst>
          </p:cNvPr>
          <p:cNvSpPr txBox="1"/>
          <p:nvPr/>
        </p:nvSpPr>
        <p:spPr>
          <a:xfrm>
            <a:off x="628073" y="507999"/>
            <a:ext cx="7654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>
                <a:solidFill>
                  <a:srgbClr val="39FF14"/>
                </a:solidFill>
              </a:rPr>
              <a:t>CONCLUSION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96546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6000">
        <p:fade/>
      </p:transition>
    </mc:Choice>
    <mc:Fallback xmlns="">
      <p:transition advClick="0" advTm="6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Personalizado 3">
      <a:dk1>
        <a:srgbClr val="020617"/>
      </a:dk1>
      <a:lt1>
        <a:srgbClr val="FFFFFF"/>
      </a:lt1>
      <a:dk2>
        <a:srgbClr val="005390"/>
      </a:dk2>
      <a:lt2>
        <a:srgbClr val="020617"/>
      </a:lt2>
      <a:accent1>
        <a:srgbClr val="39FF14"/>
      </a:accent1>
      <a:accent2>
        <a:srgbClr val="0070C0"/>
      </a:accent2>
      <a:accent3>
        <a:srgbClr val="FFFFFF"/>
      </a:accent3>
      <a:accent4>
        <a:srgbClr val="50771B"/>
      </a:accent4>
      <a:accent5>
        <a:srgbClr val="83DCF8"/>
      </a:accent5>
      <a:accent6>
        <a:srgbClr val="BFBFBF"/>
      </a:accent6>
      <a:hlink>
        <a:srgbClr val="39FF14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856</Words>
  <Application>Microsoft Office PowerPoint</Application>
  <PresentationFormat>Panorámica</PresentationFormat>
  <Paragraphs>101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Segoe UI</vt:lpstr>
      <vt:lpstr>Wingdings 3</vt:lpstr>
      <vt:lpstr>Ion</vt:lpstr>
      <vt:lpstr>ELITESCOUT SL: INFRAESTRUCTURA TECNOLÓGICA PARA EL ANÁLISIS DE ÉLITE.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asdada sdadasdada</dc:creator>
  <cp:lastModifiedBy>asdada sdadasdada</cp:lastModifiedBy>
  <cp:revision>3</cp:revision>
  <dcterms:created xsi:type="dcterms:W3CDTF">2026-05-02T09:11:09Z</dcterms:created>
  <dcterms:modified xsi:type="dcterms:W3CDTF">2026-05-03T14:48:56Z</dcterms:modified>
</cp:coreProperties>
</file>